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22376"/>
            <a:ext cx="2507865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908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SPARK BOOTCAMP ·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21444"/>
            <a:ext cx="8436620" cy="1184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Day 2</a:t>
            </a:r>
          </a:p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Market and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66261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30378"/>
            <a:ext cx="7803873" cy="3806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B8A3C4"/>
                </a:solidFill>
                <a:latin typeface="Lora"/>
              </a:rPr>
              <a:t>Size the market, sharpen the proposition, hand out a pitch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SKILLS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PITCH DECK SLIDES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09:00–17:00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RUNS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6234"/>
            <a:ext cx="10545775" cy="3305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FAF7F0"/>
                </a:solidFill>
                <a:latin typeface="Inter"/>
              </a:rPr>
              <a:t>Facilitator deck · Spark AI Agency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53912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 spc="180">
                <a:solidFill>
                  <a:srgbClr val="F5D699"/>
                </a:solidFill>
                <a:latin typeface="Inter"/>
              </a:rPr>
              <a:t>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09:00–09:35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Overflow interviews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run-interview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9428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5036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09:35–10:15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367" y="2990595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Synthesise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593" y="2990595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synthesise-interviews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7344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52952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10:15–10:30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2367" y="3588511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3588511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85260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50868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10:30–10:50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2367" y="4186428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Validate the problem, close Day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593" y="4186428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d1-validated-problem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83176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748784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10:50–11:20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2367" y="4784344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Market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593" y="4784344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d2-market-map, -sizing, -competitor-scan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181092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346700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11:20–12:30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2367" y="5382260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Position and propose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593" y="5382260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d2-positioning, d2-proposition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  · 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12:30–13:30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9428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5036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13:30–13:40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367" y="2990595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593" y="2990595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d2-messaging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7344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52952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13:40–14:15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2367" y="3588511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Brand foundations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3588511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d2-brand-foundations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85260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50868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14:15–15:00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2367" y="4186428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Visual 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593" y="4186428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d2-visual-identity, brand-register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83176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748784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15:00–15:15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2367" y="4784344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593" y="4784344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181092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346700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15:15–15:55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2367" y="5382260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Brand book, pitch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593" y="5382260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d2-brand-book, d2-pitch-deck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  · 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15:55–17:00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Pitch lightning 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group share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Close Day 1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16024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40">
                <a:solidFill>
                  <a:srgbClr val="1A5C58"/>
                </a:solidFill>
                <a:latin typeface="Inter"/>
              </a:rPr>
              <a:t>BEFORE MARKET WORK STARTS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118360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183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154936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Overflow 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484501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Anyone who booked Tuesday morning runs first.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88361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88361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924937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Synthesise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254502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synthesise-interviews turns the raw calls into discovery-findings.md.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658362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5836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694938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Call the 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024503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d1-validated-problem forces persevere, pivot, or insufficient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64939"/>
            <a:ext cx="10545775" cy="1220724"/>
          </a:xfrm>
          <a:prstGeom prst="roundRect">
            <a:avLst>
              <a:gd name="adj" fmla="val 6741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3856" y="4775835"/>
            <a:ext cx="50292" cy="28575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1892" y="4775835"/>
            <a:ext cx="9635947" cy="3954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This is the week's biggest decision: everything after Day 1 points at whatever you lock 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1892" y="5226176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d1-validated-problem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Market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3332378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72056"/>
            <a:ext cx="2820314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Market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19909"/>
            <a:ext cx="2820314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Draw the board first: segments, value chain, named incumbents, substitutes.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658" y="1716024"/>
            <a:ext cx="3332378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5690" y="1972056"/>
            <a:ext cx="2820314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Market sizing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5690" y="2319909"/>
            <a:ext cx="2820314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TAM, SAM, SOM, worked two independent ways and checked against each other.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6356" y="1716024"/>
            <a:ext cx="3332378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2388" y="1972056"/>
            <a:ext cx="2820314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Competitor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2388" y="2319909"/>
            <a:ext cx="2820314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Six or more real rivals, scored, ending on the sentence naming the gap you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10255"/>
            <a:ext cx="10545775" cy="1227201"/>
          </a:xfrm>
          <a:prstGeom prst="roundRect">
            <a:avLst>
              <a:gd name="adj" fmla="val 67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621151"/>
            <a:ext cx="9923983" cy="329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TAM / SAM / 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005580"/>
            <a:ext cx="992398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Top-down flatters you, bottom-up keeps you honest. The gap between the two methods is the assumption you haven't thought through.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Position and propose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16024"/>
            <a:ext cx="10545775" cy="414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34E4A"/>
                </a:solidFill>
                <a:latin typeface="Lora"/>
              </a:rPr>
              <a:t>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03704"/>
            <a:ext cx="10545775" cy="573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2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Positioning is the one decision that makes every later decision easier: it tells Day 3 what to build, Day 4 what to say, and Day 5 why a prospect pays you and not the incumbent.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413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40">
                <a:solidFill>
                  <a:srgbClr val="1A5C58"/>
                </a:solidFill>
                <a:latin typeface="Inter"/>
              </a:rPr>
              <a:t>THE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43656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43656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 Geoffrey Moore positioning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92652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692652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 2x2 map with rivals plotted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41648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041648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One USP under 20 words no rival can honestly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55236"/>
            <a:ext cx="10545775" cy="414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34E4A"/>
                </a:solidFill>
                <a:latin typeface="Lora"/>
              </a:rPr>
              <a:t>Proposition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42916"/>
            <a:ext cx="10545775" cy="341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2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 proposition is a promise you can prove: get it right and Day 3 knows what to build and Friday's pricing has a number to anchor 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Messaging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10545775" cy="1220724"/>
          </a:xfrm>
          <a:prstGeom prst="roundRect">
            <a:avLst>
              <a:gd name="adj" fmla="val 6741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026920"/>
            <a:ext cx="50292" cy="28575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1892" y="2026920"/>
            <a:ext cx="9635947" cy="3954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People buy the sentence they can repeat to someone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1892" y="2477262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d2-messaging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11068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211068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One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0064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560064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Three proof-backed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09060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09060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 30-second pitch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Brand foundations and visual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Brand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Decide once how you sound and what you stand for, and every email, page and pitch downstream sounds like the same firm.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9039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Visual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9039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Three genuinely different logo concepts, one font pairing, a five-colour AA-safe palette, chosen by you in under an hour.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10255"/>
            <a:ext cx="10545775" cy="1227201"/>
          </a:xfrm>
          <a:prstGeom prst="roundRect">
            <a:avLst>
              <a:gd name="adj" fmla="val 6705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621151"/>
            <a:ext cx="9923983" cy="329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Brand book and pitch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005580"/>
            <a:ext cx="992398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A brand that lives in one founder's head dies at the first freelancer. The brand book is the handover; the pitch deck is tonight's homework.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monogram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807" y="362102"/>
            <a:ext cx="401007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8FADAA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Pitch lightning 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16024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18360"/>
            <a:ext cx="5154015" cy="981964"/>
          </a:xfrm>
          <a:prstGeom prst="roundRect">
            <a:avLst>
              <a:gd name="adj" fmla="val 6518"/>
            </a:avLst>
          </a:prstGeom>
          <a:solidFill>
            <a:srgbClr val="1B5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356104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60">
                <a:solidFill>
                  <a:srgbClr val="E8A54B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667000"/>
            <a:ext cx="4678527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AF7F0"/>
                </a:solidFill>
                <a:latin typeface="Inter"/>
              </a:rPr>
              <a:t>2 minutes, one slide, no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4719" y="2118360"/>
            <a:ext cx="5154015" cy="981964"/>
          </a:xfrm>
          <a:prstGeom prst="roundRect">
            <a:avLst>
              <a:gd name="adj" fmla="val 6518"/>
            </a:avLst>
          </a:prstGeom>
          <a:solidFill>
            <a:srgbClr val="1B5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2463" y="2356104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60">
                <a:solidFill>
                  <a:srgbClr val="E8A54B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2463" y="2667000"/>
            <a:ext cx="4678527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AF7F0"/>
                </a:solidFill>
                <a:latin typeface="Inter"/>
              </a:rPr>
              <a:t>A stranger in the audience should follow the whole 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38068"/>
            <a:ext cx="5154015" cy="981964"/>
          </a:xfrm>
          <a:prstGeom prst="roundRect">
            <a:avLst>
              <a:gd name="adj" fmla="val 6518"/>
            </a:avLst>
          </a:prstGeom>
          <a:solidFill>
            <a:srgbClr val="1B5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575812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60">
                <a:solidFill>
                  <a:srgbClr val="E8A54B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886708"/>
            <a:ext cx="4678527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AF7F0"/>
                </a:solidFill>
                <a:latin typeface="Inter"/>
              </a:rPr>
              <a:t>Feedback from the room, then move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3338068"/>
            <a:ext cx="5154015" cy="981964"/>
          </a:xfrm>
          <a:prstGeom prst="roundRect">
            <a:avLst>
              <a:gd name="adj" fmla="val 6518"/>
            </a:avLst>
          </a:prstGeom>
          <a:solidFill>
            <a:srgbClr val="1B5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3575812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60">
                <a:solidFill>
                  <a:srgbClr val="E8A54B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3886708"/>
            <a:ext cx="4678527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AF7F0"/>
                </a:solidFill>
                <a:latin typeface="Inter"/>
              </a:rPr>
              <a:t>Every founder presents, no exceptions.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67512"/>
            <a:ext cx="2006290" cy="5705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05025"/>
            <a:ext cx="10545775" cy="646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Into Day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21763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952745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5274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952745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Ship the pitch deck to every founder tonight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619270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927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19270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Sleep on the proposition before Wednesday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85794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8579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85794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Bring the brand board, Day 3 builds against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8097"/>
            <a:ext cx="738204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AF7F0"/>
                </a:solidFill>
                <a:latin typeface="Lora"/>
              </a:rPr>
              <a:t>Sebastian Lawson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87009"/>
            <a:ext cx="7382042" cy="659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 AI Agency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seb@sparkcuriosityhq.com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sparkconsulting.tech</a:t>
            </a:r>
          </a:p>
        </p:txBody>
      </p:sp>
      <p:pic>
        <p:nvPicPr>
          <p:cNvPr id="17" name="Picture 16" descr="spark-monogram-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5503" y="5641848"/>
            <a:ext cx="504493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