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rk-hero-sparkle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park-wordmark-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22376"/>
            <a:ext cx="2507865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2908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F5D699"/>
                </a:solidFill>
                <a:latin typeface="Inter"/>
              </a:rPr>
              <a:t>SPARK BOOTCAMP · DAY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21444"/>
            <a:ext cx="8436620" cy="11846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AF7F0"/>
                </a:solidFill>
                <a:latin typeface="Lora"/>
              </a:rPr>
              <a:t>Day 5</a:t>
            </a:r>
          </a:p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AF7F0"/>
                </a:solidFill>
                <a:latin typeface="Lora"/>
              </a:rPr>
              <a:t>Tweaks and First Sale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66261"/>
            <a:ext cx="1234440" cy="41148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30378"/>
            <a:ext cx="7803873" cy="3806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350" b="0" i="1">
                <a:solidFill>
                  <a:srgbClr val="B8A3C4"/>
                </a:solidFill>
                <a:latin typeface="Lora"/>
              </a:rPr>
              <a:t>Hit the headline number, a real customer commits.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360354"/>
            <a:ext cx="3332378" cy="960120"/>
          </a:xfrm>
          <a:prstGeom prst="roundRect">
            <a:avLst>
              <a:gd name="adj" fmla="val 6666"/>
            </a:avLst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06658"/>
            <a:ext cx="33323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34E4A"/>
                </a:solidFill>
                <a:latin typeface="Lor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09578"/>
            <a:ext cx="333237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 spc="160">
                <a:solidFill>
                  <a:srgbClr val="134E4A"/>
                </a:solidFill>
                <a:latin typeface="Inter"/>
              </a:rPr>
              <a:t>FIXES, RUTHLESSLY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9658" y="4360354"/>
            <a:ext cx="3332378" cy="960120"/>
          </a:xfrm>
          <a:prstGeom prst="roundRect">
            <a:avLst>
              <a:gd name="adj" fmla="val 6666"/>
            </a:avLst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9658" y="4506658"/>
            <a:ext cx="33323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34E4A"/>
                </a:solidFill>
                <a:latin typeface="Lor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5009578"/>
            <a:ext cx="333237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 spc="160">
                <a:solidFill>
                  <a:srgbClr val="134E4A"/>
                </a:solidFill>
                <a:latin typeface="Inter"/>
              </a:rPr>
              <a:t>PRICE TIERS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4360354"/>
            <a:ext cx="3332378" cy="960120"/>
          </a:xfrm>
          <a:prstGeom prst="roundRect">
            <a:avLst>
              <a:gd name="adj" fmla="val 6666"/>
            </a:avLst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4506658"/>
            <a:ext cx="33323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34E4A"/>
                </a:solidFill>
                <a:latin typeface="Lora"/>
              </a:rPr>
              <a:t>13:45–16:00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6356" y="5009578"/>
            <a:ext cx="333237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 spc="160">
                <a:solidFill>
                  <a:srgbClr val="134E4A"/>
                </a:solidFill>
                <a:latin typeface="Inter"/>
              </a:rPr>
              <a:t>SALE MEETINGS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86234"/>
            <a:ext cx="10545775" cy="3305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FAF7F0"/>
                </a:solidFill>
                <a:latin typeface="Inter"/>
              </a:rPr>
              <a:t>Facilitator deck · Spark AI Agency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53912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 spc="180">
                <a:solidFill>
                  <a:srgbClr val="F5D699"/>
                </a:solidFill>
                <a:latin typeface="Inter"/>
              </a:rPr>
              <a:t>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Today's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16024"/>
            <a:ext cx="10545775" cy="475488"/>
          </a:xfrm>
          <a:prstGeom prst="rect">
            <a:avLst/>
          </a:prstGeom>
          <a:solidFill>
            <a:srgbClr val="134E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58670"/>
            <a:ext cx="149590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2367" y="1858670"/>
            <a:ext cx="402688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593" y="1858670"/>
            <a:ext cx="381597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SKILL(S)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91512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357119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09:00–09:20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2367" y="2392679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Triage yesterday's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593" y="2392679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d5-triage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789428"/>
            <a:ext cx="10545775" cy="59791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955036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09:20–10:30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2367" y="2990595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Ship the fixes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593" y="2990595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d5-ship-fixes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387344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552952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10:30–10:45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2367" y="3588511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Break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1593" y="3588511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985260"/>
            <a:ext cx="10545775" cy="59791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150868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10:45–11:10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2367" y="4186428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Set the price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593" y="4186428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d5-price-number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583176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748784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11:10–11:35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2367" y="4784344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Draft the proposal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1593" y="4784344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d5-proposal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181092"/>
            <a:ext cx="10545775" cy="59791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5346700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11:35–12:30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2367" y="5382260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Paperwork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1593" y="5382260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d5-paperwork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00  ·  CONTINUED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Today's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16024"/>
            <a:ext cx="10545775" cy="475488"/>
          </a:xfrm>
          <a:prstGeom prst="rect">
            <a:avLst/>
          </a:prstGeom>
          <a:solidFill>
            <a:srgbClr val="134E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58670"/>
            <a:ext cx="149590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2367" y="1858670"/>
            <a:ext cx="402688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593" y="1858670"/>
            <a:ext cx="381597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SKILL(S)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91512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357119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12:30–13:15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2367" y="2392679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Lunch, early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593" y="2392679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789428"/>
            <a:ext cx="10545775" cy="59791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955036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13:15–13:45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2367" y="2990595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Rehearse in pairs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593" y="2990595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d5-rehearse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387344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552952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13:45–16:00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2367" y="3588511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Sale meetings, staggered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1593" y="3588511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live, off the plugin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985260"/>
            <a:ext cx="10545775" cy="59791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150868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16:00–16:20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2367" y="4186428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Log the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593" y="4186428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d5-close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583176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748784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16:20–16:50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2367" y="4784344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Compile the launch package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1593" y="4784344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d5-review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181092"/>
            <a:ext cx="10545775" cy="59791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5346700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16:50–17:00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2367" y="5382260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Demo day: state your number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1593" y="5382260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group close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Triage and ship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16024"/>
            <a:ext cx="10545775" cy="1506474"/>
          </a:xfrm>
          <a:prstGeom prst="roundRect">
            <a:avLst>
              <a:gd name="adj" fmla="val 5462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3856" y="2026920"/>
            <a:ext cx="50292" cy="571500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1892" y="2026920"/>
            <a:ext cx="9635947" cy="6812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b="0" i="1">
                <a:solidFill>
                  <a:srgbClr val="134E4A"/>
                </a:solidFill>
                <a:latin typeface="Lora"/>
              </a:rPr>
              <a:t>On Day 5 you have hours and one job: get a real prospect to act on your live page, so fixing everything means shipping nothing.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1892" y="2763012"/>
            <a:ext cx="9635947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A2420"/>
                </a:solidFill>
                <a:latin typeface="Inter"/>
              </a:rPr>
              <a:t>d5-triage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96818"/>
            <a:ext cx="10545775" cy="3413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2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Friday is not for new features: it is for making one clean route work so a real person can watch it and believe it.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002786"/>
            <a:ext cx="475488" cy="475488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278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4039362"/>
            <a:ext cx="9795967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4368927"/>
            <a:ext cx="9795967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A ruthless three-item fix list, everything else parked or roadmapped.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772787"/>
            <a:ext cx="475488" cy="475488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772787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4809363"/>
            <a:ext cx="9795967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5138928"/>
            <a:ext cx="9795967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Build the three fixes, run the demo once end to end, commit with a timestamp.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Set the price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16024"/>
            <a:ext cx="10545775" cy="1506474"/>
          </a:xfrm>
          <a:prstGeom prst="roundRect">
            <a:avLst>
              <a:gd name="adj" fmla="val 5462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3856" y="2026920"/>
            <a:ext cx="50292" cy="571500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1892" y="2026920"/>
            <a:ext cx="9635947" cy="6812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b="0" i="1">
                <a:solidFill>
                  <a:srgbClr val="134E4A"/>
                </a:solidFill>
                <a:latin typeface="Lora"/>
              </a:rPr>
              <a:t>Founders freeze on price, and a buyer decides in seconds whether it feels fair, so we anchor on value and engineer the middle package to win.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1892" y="2763012"/>
            <a:ext cx="9635947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A2420"/>
                </a:solidFill>
                <a:latin typeface="Inter"/>
              </a:rPr>
              <a:t>d5-price-number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96818"/>
            <a:ext cx="182880" cy="220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34E4A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496818"/>
            <a:ext cx="1028974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Three named packages: good, better, best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5814"/>
            <a:ext cx="182880" cy="220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34E4A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845814"/>
            <a:ext cx="1028974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One recommended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94810"/>
            <a:ext cx="182880" cy="220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34E4A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194810"/>
            <a:ext cx="1028974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Every price tied to a value assumption you can defend out loud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Proposal and paperwork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16024"/>
            <a:ext cx="5135727" cy="1265047"/>
          </a:xfrm>
          <a:prstGeom prst="roundRect">
            <a:avLst>
              <a:gd name="adj" fmla="val 6505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72056"/>
            <a:ext cx="4623663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319909"/>
            <a:ext cx="4623663" cy="4965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One page a named buyer can say yes to: their problem, one numeric target, a delivery window inside six weeks, one price, one next step.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716024"/>
            <a:ext cx="5135727" cy="1265047"/>
          </a:xfrm>
          <a:prstGeom prst="roundRect">
            <a:avLst>
              <a:gd name="adj" fmla="val 6505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9039" y="1972056"/>
            <a:ext cx="4623663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Paperwork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9039" y="2319909"/>
            <a:ext cx="4623663" cy="4965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An engagement letter, terms, an invoice from the correct trading entity, and a payment method that clears today. Drafts only.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10255"/>
            <a:ext cx="10545775" cy="1227201"/>
          </a:xfrm>
          <a:prstGeom prst="roundRect">
            <a:avLst>
              <a:gd name="adj" fmla="val 6705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621151"/>
            <a:ext cx="9923983" cy="329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Have a qualified lawyer review this before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4005580"/>
            <a:ext cx="992398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Every legal and data-protection output in the plugin is a draft. Spark does not warrant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Rehearse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16024"/>
            <a:ext cx="10545775" cy="1506474"/>
          </a:xfrm>
          <a:prstGeom prst="roundRect">
            <a:avLst>
              <a:gd name="adj" fmla="val 5462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3856" y="2026920"/>
            <a:ext cx="50292" cy="571500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1892" y="2026920"/>
            <a:ext cx="9635947" cy="6812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b="0" i="1">
                <a:solidFill>
                  <a:srgbClr val="134E4A"/>
                </a:solidFill>
                <a:latin typeface="Lora"/>
              </a:rPr>
              <a:t>The sale is won by naming the price without flinching and answering 'it's too expensive' without apologising.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1892" y="2763012"/>
            <a:ext cx="9635947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A2420"/>
                </a:solidFill>
                <a:latin typeface="Inter"/>
              </a:rPr>
              <a:t>d5-rehearse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96818"/>
            <a:ext cx="182880" cy="220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34E4A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496818"/>
            <a:ext cx="1028974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A full sales role-play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5814"/>
            <a:ext cx="182880" cy="220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34E4A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845814"/>
            <a:ext cx="1028974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8+ objections drilled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94810"/>
            <a:ext cx="182880" cy="220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34E4A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194810"/>
            <a:ext cx="1028974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Say the price out loud until it stops wobbling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rk-hero-sparkle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park-monogram-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1807" y="362102"/>
            <a:ext cx="401007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8FADAA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F5D699"/>
                </a:solidFill>
                <a:latin typeface="Inter"/>
              </a:rPr>
              <a:t>SECTION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FAF7F0"/>
                </a:solidFill>
                <a:latin typeface="Lora"/>
              </a:rPr>
              <a:t>Sale meetings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16024"/>
            <a:ext cx="1234440" cy="41148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18360"/>
            <a:ext cx="10545775" cy="3413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2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Each founder's Friday meeting was booked individually on Day 4. The room runs as a window, not a block everyone shares.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243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40">
                <a:solidFill>
                  <a:srgbClr val="E8A54B"/>
                </a:solidFill>
                <a:latin typeface="Inter"/>
              </a:rPr>
              <a:t>13:45–16:00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Close and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16024"/>
            <a:ext cx="10545775" cy="1506474"/>
          </a:xfrm>
          <a:prstGeom prst="roundRect">
            <a:avLst>
              <a:gd name="adj" fmla="val 5462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3856" y="2026920"/>
            <a:ext cx="50292" cy="571500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1892" y="2026920"/>
            <a:ext cx="9635947" cy="6812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b="0" i="1">
                <a:solidFill>
                  <a:srgbClr val="134E4A"/>
                </a:solidFill>
                <a:latin typeface="Lora"/>
              </a:rPr>
              <a:t>A week of work is worth nothing until someone commits, and most deals die in the last ten minutes because the founder never actually asks.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1892" y="2763012"/>
            <a:ext cx="9635947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A2420"/>
                </a:solidFill>
                <a:latin typeface="Inter"/>
              </a:rPr>
              <a:t>d5-close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96818"/>
            <a:ext cx="182880" cy="220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34E4A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496818"/>
            <a:ext cx="1028974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Record the outcome at whichever tier lands: cash, deposit, signed paid pilot, or signed LOI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5814"/>
            <a:ext cx="182880" cy="220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34E4A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845814"/>
            <a:ext cx="1028974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Compile LAUNCH-PACKAGE.md: every headline number, target versus achieved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rk-hero-sparkle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park-wordmark-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67512"/>
            <a:ext cx="2006290" cy="5705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05025"/>
            <a:ext cx="10545775" cy="646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FAF7F0"/>
                </a:solidFill>
                <a:latin typeface="Lora"/>
              </a:rPr>
              <a:t>Demo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21763"/>
            <a:ext cx="1234440" cy="41148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952745"/>
            <a:ext cx="457200" cy="457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5274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952745"/>
            <a:ext cx="976853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State your number, whatever it is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619270"/>
            <a:ext cx="457200" cy="457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1927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619270"/>
            <a:ext cx="976853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One honest link: MVP, pitch deck, sales deck, live page, launch checklist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85794"/>
            <a:ext cx="457200" cy="457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8579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285794"/>
            <a:ext cx="976853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Decide together what Monday looks like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48097"/>
            <a:ext cx="738204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AF7F0"/>
                </a:solidFill>
                <a:latin typeface="Lora"/>
              </a:rPr>
              <a:t>Sebastian Lawson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87009"/>
            <a:ext cx="7382042" cy="6595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050" b="0" i="0">
                <a:solidFill>
                  <a:srgbClr val="BFD3D1"/>
                </a:solidFill>
                <a:latin typeface="Inter"/>
              </a:rPr>
              <a:t>Spark AI Agency</a:t>
            </a:r>
          </a:p>
          <a:p>
            <a:pPr algn="l">
              <a:lnSpc>
                <a:spcPct val="142000"/>
              </a:lnSpc>
            </a:pPr>
            <a:r>
              <a:rPr sz="1050" b="0" i="0">
                <a:solidFill>
                  <a:srgbClr val="BFD3D1"/>
                </a:solidFill>
                <a:latin typeface="Inter"/>
              </a:rPr>
              <a:t>seb@sparkcuriosityhq.com</a:t>
            </a:r>
          </a:p>
          <a:p>
            <a:pPr algn="l">
              <a:lnSpc>
                <a:spcPct val="142000"/>
              </a:lnSpc>
            </a:pPr>
            <a:r>
              <a:rPr sz="1050" b="0" i="0">
                <a:solidFill>
                  <a:srgbClr val="BFD3D1"/>
                </a:solidFill>
                <a:latin typeface="Inter"/>
              </a:rPr>
              <a:t>sparkconsulting.tech</a:t>
            </a:r>
          </a:p>
        </p:txBody>
      </p:sp>
      <p:pic>
        <p:nvPicPr>
          <p:cNvPr id="17" name="Picture 16" descr="spark-monogram-cr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5503" y="5641848"/>
            <a:ext cx="504493" cy="7132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