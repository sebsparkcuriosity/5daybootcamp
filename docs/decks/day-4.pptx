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rk-hero-sparkle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park-wordmark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22376"/>
            <a:ext cx="2507865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908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F5D699"/>
                </a:solidFill>
                <a:latin typeface="Inter"/>
              </a:rPr>
              <a:t>SPARK BOOTCAMP · DAY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21444"/>
            <a:ext cx="8436620" cy="11846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AF7F0"/>
                </a:solidFill>
                <a:latin typeface="Lora"/>
              </a:rPr>
              <a:t>Day 4</a:t>
            </a:r>
          </a:p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AF7F0"/>
                </a:solidFill>
                <a:latin typeface="Lora"/>
              </a:rPr>
              <a:t>Test and Go to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66261"/>
            <a:ext cx="1234440" cy="41148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30378"/>
            <a:ext cx="7803873" cy="3806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50" b="0" i="1">
                <a:solidFill>
                  <a:srgbClr val="B8A3C4"/>
                </a:solidFill>
                <a:latin typeface="Lora"/>
              </a:rPr>
              <a:t>Test the build for buying signals, then build the machine that sells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60354"/>
            <a:ext cx="3332378" cy="960120"/>
          </a:xfrm>
          <a:prstGeom prst="roundRect">
            <a:avLst>
              <a:gd name="adj" fmla="val 6666"/>
            </a:avLst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06658"/>
            <a:ext cx="33323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34E4A"/>
                </a:solidFill>
                <a:latin typeface="Lora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09578"/>
            <a:ext cx="333237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 spc="160">
                <a:solidFill>
                  <a:srgbClr val="134E4A"/>
                </a:solidFill>
                <a:latin typeface="Inter"/>
              </a:rPr>
              <a:t>USABILITY SESSIONS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9658" y="4360354"/>
            <a:ext cx="3332378" cy="960120"/>
          </a:xfrm>
          <a:prstGeom prst="roundRect">
            <a:avLst>
              <a:gd name="adj" fmla="val 6666"/>
            </a:avLst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9658" y="4506658"/>
            <a:ext cx="33323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34E4A"/>
                </a:solidFill>
                <a:latin typeface="Lora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5009578"/>
            <a:ext cx="333237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 spc="160">
                <a:solidFill>
                  <a:srgbClr val="134E4A"/>
                </a:solidFill>
                <a:latin typeface="Inter"/>
              </a:rPr>
              <a:t>GTM PROSPECTS RANKED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4360354"/>
            <a:ext cx="3332378" cy="960120"/>
          </a:xfrm>
          <a:prstGeom prst="roundRect">
            <a:avLst>
              <a:gd name="adj" fmla="val 6666"/>
            </a:avLst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4506658"/>
            <a:ext cx="33323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34E4A"/>
                </a:solidFill>
                <a:latin typeface="Lora"/>
              </a:rPr>
              <a:t>16:25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6356" y="5009578"/>
            <a:ext cx="333237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 spc="160">
                <a:solidFill>
                  <a:srgbClr val="134E4A"/>
                </a:solidFill>
                <a:latin typeface="Inter"/>
              </a:rPr>
              <a:t>BOOK FRIDAY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86234"/>
            <a:ext cx="10545775" cy="3305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FAF7F0"/>
                </a:solidFill>
                <a:latin typeface="Inter"/>
              </a:rPr>
              <a:t>Facilitator deck · Spark AI Agency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53912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 spc="180">
                <a:solidFill>
                  <a:srgbClr val="F5D699"/>
                </a:solidFill>
                <a:latin typeface="Inter"/>
              </a:rPr>
              <a:t>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Today's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16024"/>
            <a:ext cx="10545775" cy="475488"/>
          </a:xfrm>
          <a:prstGeom prst="rect">
            <a:avLst/>
          </a:prstGeom>
          <a:solidFill>
            <a:srgbClr val="134E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58670"/>
            <a:ext cx="149590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2367" y="1858670"/>
            <a:ext cx="402688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593" y="1858670"/>
            <a:ext cx="381597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SKILL(S)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91512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357119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09:00–09:15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2367" y="2392679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Usability test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593" y="2392679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d4-usability-plan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789428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955036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09:15–12:30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2367" y="2990595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Usability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593" y="2990595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live, real users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387344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552952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12:30–13:30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2367" y="3588511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Lunch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593" y="3588511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985260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150868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13:30–14:00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2367" y="4186428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Synthesise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593" y="4186428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d4-prioritise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583176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748784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14:00–14:45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2367" y="4784344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Messaging and pricing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1593" y="4784344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d4-icp-messaging, d4-pricing-model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181092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5346700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14:45–15:00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2367" y="5382260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Break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1593" y="5382260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00  ·  CONTINUED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Today's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16024"/>
            <a:ext cx="10545775" cy="475488"/>
          </a:xfrm>
          <a:prstGeom prst="rect">
            <a:avLst/>
          </a:prstGeom>
          <a:solidFill>
            <a:srgbClr val="134E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58670"/>
            <a:ext cx="149590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2367" y="1858670"/>
            <a:ext cx="402688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593" y="1858670"/>
            <a:ext cx="381597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SKILL(S)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91512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357119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15:15–16:00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2367" y="2392679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Sales machine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593" y="2392679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d4-sales-deck, intake, onboarding, funnel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789428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955036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16:00–16:25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2367" y="2990595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GTM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593" y="2990595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d4-gtm-plan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387344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552952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16:25–16:45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2367" y="3588511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Book the Friday meeting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593" y="3588511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d4-book-sale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985260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150868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16:45–17:00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2367" y="4186428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Roll call, close Day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593" y="4186428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Usability, not bug hunting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16024"/>
            <a:ext cx="10545775" cy="573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2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You now have a thing, so the question changes from 'is the pain real?' to 'does my build remove it, and is that worth money?' Watching five people fumble it teaches you more than fifty surveys.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5364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40">
                <a:solidFill>
                  <a:srgbClr val="1A5C58"/>
                </a:solidFill>
                <a:latin typeface="Inter"/>
              </a:rPr>
              <a:t>WHAT WE'RE WATCHING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55976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55976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Real tasks on the live URL, not a demo you drive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4972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204972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Three probes reading whether they would actually pay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53968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553968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Five sessions, booked ahead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Triage the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16024"/>
            <a:ext cx="10545775" cy="1506474"/>
          </a:xfrm>
          <a:prstGeom prst="roundRect">
            <a:avLst>
              <a:gd name="adj" fmla="val 5462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3856" y="2026920"/>
            <a:ext cx="50292" cy="571500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1892" y="2026920"/>
            <a:ext cx="9635947" cy="6812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134E4A"/>
                </a:solidFill>
                <a:latin typeface="Lora"/>
              </a:rPr>
              <a:t>By Friday you can build three things not thirty and phone a handful of people, so numbers decide, not the loudest voice.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1892" y="2763012"/>
            <a:ext cx="9635947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A2420"/>
                </a:solidFill>
                <a:latin typeface="Inter"/>
              </a:rPr>
              <a:t>d4-prioritise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96818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496818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Score every requested change with RICE and MoSCoW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5814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845814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Rank every tester by likelihood to buy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Messaging and pricing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16024"/>
            <a:ext cx="5135727" cy="1265047"/>
          </a:xfrm>
          <a:prstGeom prst="roundRect">
            <a:avLst>
              <a:gd name="adj" fmla="val 6505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72056"/>
            <a:ext cx="4623663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ICP and messaging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19909"/>
            <a:ext cx="4623663" cy="4965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On Friday you reach only a handful of people and say roughly the same thing to each, so fuzzy targeting costs you half of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716024"/>
            <a:ext cx="5135727" cy="1265047"/>
          </a:xfrm>
          <a:prstGeom prst="roundRect">
            <a:avLst>
              <a:gd name="adj" fmla="val 6505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9039" y="1972056"/>
            <a:ext cx="4623663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Pricing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9039" y="2319909"/>
            <a:ext cx="4623663" cy="4965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How you charge decides who buys and how fast they say yes. The model and floor get fixed now; the exact number is Friday's first job.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The sales machine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16024"/>
            <a:ext cx="5154015" cy="1177544"/>
          </a:xfrm>
          <a:prstGeom prst="roundRect">
            <a:avLst>
              <a:gd name="adj" fmla="val 5435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953768"/>
            <a:ext cx="4678527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60">
                <a:solidFill>
                  <a:srgbClr val="E8A54B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264664"/>
            <a:ext cx="4678527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Sales deck: a prospect who hears their own words read back is a prospect who signs.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4719" y="1716024"/>
            <a:ext cx="5154015" cy="1177544"/>
          </a:xfrm>
          <a:prstGeom prst="roundRect">
            <a:avLst>
              <a:gd name="adj" fmla="val 5435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2463" y="1953768"/>
            <a:ext cx="4678527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60">
                <a:solidFill>
                  <a:srgbClr val="E8A54B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2463" y="2264664"/>
            <a:ext cx="4678527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Intake process: most first sales die in the gap between the nod and the kickoff.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31312"/>
            <a:ext cx="5154015" cy="1177544"/>
          </a:xfrm>
          <a:prstGeom prst="roundRect">
            <a:avLst>
              <a:gd name="adj" fmla="val 5435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369056"/>
            <a:ext cx="4678527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60">
                <a:solidFill>
                  <a:srgbClr val="E8A54B"/>
                </a:solidFill>
                <a:latin typeface="Inte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3679952"/>
            <a:ext cx="4678527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Onboarding pack: a first week that feels handled is the cheapest retention you will ever buy.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4719" y="3131312"/>
            <a:ext cx="5154015" cy="1177544"/>
          </a:xfrm>
          <a:prstGeom prst="roundRect">
            <a:avLst>
              <a:gd name="adj" fmla="val 5435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2463" y="3369056"/>
            <a:ext cx="4678527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60">
                <a:solidFill>
                  <a:srgbClr val="E8A54B"/>
                </a:solidFill>
                <a:latin typeface="Inter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2463" y="3679952"/>
            <a:ext cx="4678527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Marketing funnel: how many arrive, and how many carry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GTM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16024"/>
            <a:ext cx="10545775" cy="1506474"/>
          </a:xfrm>
          <a:prstGeom prst="roundRect">
            <a:avLst>
              <a:gd name="adj" fmla="val 5462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3856" y="2026920"/>
            <a:ext cx="50292" cy="571500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1892" y="2026920"/>
            <a:ext cx="9635947" cy="6812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134E4A"/>
                </a:solidFill>
                <a:latin typeface="Lora"/>
              </a:rPr>
              <a:t>The warmest prospect closes far faster than a cold one, so you start there, not at the top of an alphabet.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1892" y="2763012"/>
            <a:ext cx="9635947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A2420"/>
                </a:solidFill>
                <a:latin typeface="Inter"/>
              </a:rPr>
              <a:t>d4-gtm-plan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rk-hero-sparkle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park-monogram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1807" y="362102"/>
            <a:ext cx="401007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8FADAA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F5D699"/>
                </a:solidFill>
                <a:latin typeface="Inter"/>
              </a:rPr>
              <a:t>SECTION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FAF7F0"/>
                </a:solidFill>
                <a:latin typeface="Lora"/>
              </a:rPr>
              <a:t>The gate: book the Friday meeting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16024"/>
            <a:ext cx="1234440" cy="41148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118360"/>
            <a:ext cx="475488" cy="475488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1836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154936"/>
            <a:ext cx="9795967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AF7F0"/>
                </a:solidFill>
                <a:latin typeface="Lora"/>
              </a:rPr>
              <a:t>Right person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484501"/>
            <a:ext cx="9795967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Not just any contact, the warmest one from today's ranking.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888361"/>
            <a:ext cx="475488" cy="475488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88361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924937"/>
            <a:ext cx="9795967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AF7F0"/>
                </a:solidFill>
                <a:latin typeface="Lora"/>
              </a:rPr>
              <a:t>Specific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254502"/>
            <a:ext cx="9795967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A slot on the table, not 'sometime Friday.'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658362"/>
            <a:ext cx="475488" cy="475488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5836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694938"/>
            <a:ext cx="9795967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AF7F0"/>
                </a:solidFill>
                <a:latin typeface="Lora"/>
              </a:rPr>
              <a:t>A reply that says 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24503"/>
            <a:ext cx="9795967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Confirmed before anyone leaves the room.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464939"/>
            <a:ext cx="10545775" cy="1506474"/>
          </a:xfrm>
          <a:prstGeom prst="roundRect">
            <a:avLst>
              <a:gd name="adj" fmla="val 5462"/>
            </a:avLst>
          </a:prstGeom>
          <a:solidFill>
            <a:srgbClr val="1B5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3856" y="4775835"/>
            <a:ext cx="50292" cy="571500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21892" y="4775835"/>
            <a:ext cx="9635947" cy="6812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FAF7F0"/>
                </a:solidFill>
                <a:latin typeface="Lora"/>
              </a:rPr>
              <a:t>Regulated buyers rarely take a same-day meeting, so you ask on Thursday for Friday with a time already on the 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1892" y="5511926"/>
            <a:ext cx="9635947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d4-book-sale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rk-hero-sparkle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park-monogram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1807" y="362102"/>
            <a:ext cx="401007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8FADAA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F5D699"/>
                </a:solidFill>
                <a:latin typeface="Inter"/>
              </a:rPr>
              <a:t>SECTION 06  ·  CONTINUED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FAF7F0"/>
                </a:solidFill>
                <a:latin typeface="Lora"/>
              </a:rPr>
              <a:t>The gate: book the Friday meeting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16024"/>
            <a:ext cx="1234440" cy="41148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18360"/>
            <a:ext cx="10545775" cy="1227201"/>
          </a:xfrm>
          <a:prstGeom prst="roundRect">
            <a:avLst>
              <a:gd name="adj" fmla="val 6705"/>
            </a:avLst>
          </a:prstGeom>
          <a:solidFill>
            <a:srgbClr val="134E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429256"/>
            <a:ext cx="9923983" cy="329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8A54B"/>
                </a:solidFill>
                <a:latin typeface="Lora"/>
              </a:rPr>
              <a:t>Nobody leaves without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813685"/>
            <a:ext cx="992398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Roll call at 16:45: read every name and their booked time out loud.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rk-hero-sparkle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park-wordmark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67512"/>
            <a:ext cx="2006290" cy="5705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05025"/>
            <a:ext cx="10545775" cy="646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FAF7F0"/>
                </a:solidFill>
                <a:latin typeface="Lora"/>
              </a:rPr>
              <a:t>Into Day 5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21763"/>
            <a:ext cx="1234440" cy="41148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952745"/>
            <a:ext cx="457200" cy="457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5274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952745"/>
            <a:ext cx="976853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Confirm your Friday meeting time and channel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619270"/>
            <a:ext cx="457200" cy="457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1927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619270"/>
            <a:ext cx="976853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Rehearse the price out loud tonight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85794"/>
            <a:ext cx="457200" cy="457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8579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285794"/>
            <a:ext cx="976853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Bring your three-item fix list, not a feature wishlist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8097"/>
            <a:ext cx="738204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AF7F0"/>
                </a:solidFill>
                <a:latin typeface="Lora"/>
              </a:rPr>
              <a:t>Sebastian Lawson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87009"/>
            <a:ext cx="7382042" cy="6595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050" b="0" i="0">
                <a:solidFill>
                  <a:srgbClr val="BFD3D1"/>
                </a:solidFill>
                <a:latin typeface="Inter"/>
              </a:rPr>
              <a:t>Spark AI Agency</a:t>
            </a:r>
          </a:p>
          <a:p>
            <a:pPr algn="l">
              <a:lnSpc>
                <a:spcPct val="142000"/>
              </a:lnSpc>
            </a:pPr>
            <a:r>
              <a:rPr sz="1050" b="0" i="0">
                <a:solidFill>
                  <a:srgbClr val="BFD3D1"/>
                </a:solidFill>
                <a:latin typeface="Inter"/>
              </a:rPr>
              <a:t>seb@sparkcuriosityhq.com</a:t>
            </a:r>
          </a:p>
          <a:p>
            <a:pPr algn="l">
              <a:lnSpc>
                <a:spcPct val="142000"/>
              </a:lnSpc>
            </a:pPr>
            <a:r>
              <a:rPr sz="1050" b="0" i="0">
                <a:solidFill>
                  <a:srgbClr val="BFD3D1"/>
                </a:solidFill>
                <a:latin typeface="Inter"/>
              </a:rPr>
              <a:t>sparkconsulting.tech</a:t>
            </a:r>
          </a:p>
        </p:txBody>
      </p:sp>
      <p:pic>
        <p:nvPicPr>
          <p:cNvPr id="17" name="Picture 16" descr="spark-monogram-cr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5503" y="5641848"/>
            <a:ext cx="504493" cy="713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