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22376"/>
            <a:ext cx="250786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908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SPARK BOOTCAMP ·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21444"/>
            <a:ext cx="8436620" cy="11846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Day 1</a:t>
            </a:r>
          </a:p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AF7F0"/>
                </a:solidFill>
                <a:latin typeface="Lora"/>
              </a:rPr>
              <a:t>Idea and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261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30378"/>
            <a:ext cx="7803873" cy="3806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B8A3C4"/>
                </a:solidFill>
                <a:latin typeface="Lora"/>
              </a:rPr>
              <a:t>Develop the idea deep enough to test, then hold the interviews booked weeks ago.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8–12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INTERVIEWS BOOKED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SESSIONS 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4360354"/>
            <a:ext cx="3332378" cy="960120"/>
          </a:xfrm>
          <a:prstGeom prst="roundRect">
            <a:avLst>
              <a:gd name="adj" fmla="val 6666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6356" y="4506658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34E4A"/>
                </a:solidFill>
                <a:latin typeface="Lora"/>
              </a:rPr>
              <a:t>09:00–17:30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500957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 spc="160">
                <a:solidFill>
                  <a:srgbClr val="134E4A"/>
                </a:solidFill>
                <a:latin typeface="Inter"/>
              </a:rPr>
              <a:t>RUNS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6234"/>
            <a:ext cx="10545775" cy="330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FAF7F0"/>
                </a:solidFill>
                <a:latin typeface="Inter"/>
              </a:rPr>
              <a:t>Facilitator deck · Spark AI 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53912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 spc="180">
                <a:solidFill>
                  <a:srgbClr val="F5D699"/>
                </a:solidFill>
                <a:latin typeface="Inter"/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09:00–09:10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Facilitator framing, coach on 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9428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55036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09:10–10:15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2367" y="2990595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Refine the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593" y="2990595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d1-refine-idea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387344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552952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10:15–10:30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2367" y="3588511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593" y="3588511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85260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150868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10:30–11:15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2367" y="4186428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Plan the interviews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593" y="4186428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d1-interview-plan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83176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748784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11:15–12:00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2367" y="4784344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Write the script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593" y="4784344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d1-write-script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181092"/>
            <a:ext cx="10545775" cy="59791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5346700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12:00–13:00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2367" y="5382260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Lunch + confirm today's slots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1593" y="5382260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00  · 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Today's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16024"/>
            <a:ext cx="10545775" cy="47548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58670"/>
            <a:ext cx="1495903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2367" y="1858670"/>
            <a:ext cx="402688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593" y="1858670"/>
            <a:ext cx="381597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F5D699"/>
                </a:solidFill>
                <a:latin typeface="Inter"/>
              </a:rPr>
              <a:t>SKILL(S)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91512"/>
            <a:ext cx="10545775" cy="597916"/>
          </a:xfrm>
          <a:prstGeom prst="rect">
            <a:avLst/>
          </a:prstGeom>
          <a:solidFill>
            <a:srgbClr val="F2E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57119"/>
            <a:ext cx="1495903" cy="3581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13:00–17:30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367" y="2392679"/>
            <a:ext cx="4026889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Interviews, up to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593" y="2392679"/>
            <a:ext cx="3815974" cy="287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run-interview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Refine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6024"/>
            <a:ext cx="8436620" cy="3764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1A5C58"/>
                </a:solidFill>
                <a:latin typeface="Lora"/>
              </a:rPr>
              <a:t>d1-refine-idea · idea-brief.md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11908"/>
            <a:ext cx="10545775" cy="573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2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This afternoon's interviews test a bet, and the bet has to be genuinely yours. A brief you merely nodded at will not survive contact with a real customer; one you talked into existence will.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49524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40">
                <a:solidFill>
                  <a:srgbClr val="1A5C58"/>
                </a:solidFill>
                <a:latin typeface="Inter"/>
              </a:rPr>
              <a:t>WHAT WE'RE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1860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51860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Where the idea came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00855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800855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What you believe, and the bet underneath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49852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149852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Whose problem it is, named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182880" cy="2209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34E4A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98848"/>
            <a:ext cx="1028974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sentence: [product] helps [who] do [job] so they [get outcome]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12436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3856" y="5323332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1892" y="5323332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134E4A"/>
                </a:solidFill>
                <a:latin typeface="Lora"/>
              </a:rPr>
              <a:t>Ends with an idea brief written in your words, not Claude's.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1892" y="5773673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2A2420"/>
                </a:solidFill>
                <a:latin typeface="Inter"/>
              </a:rPr>
              <a:t>d1-refine-idea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-monogram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807" y="362102"/>
            <a:ext cx="4011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1A5C58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134E4A"/>
                </a:solidFill>
                <a:latin typeface="Lora"/>
              </a:rPr>
              <a:t>Plan the interviews, write the 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Plan the interviews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Ten minutes per booked name is what turns a diary of calls into a test of your riskiest assumption.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16024"/>
            <a:ext cx="5135727" cy="1265047"/>
          </a:xfrm>
          <a:prstGeom prst="roundRect">
            <a:avLst>
              <a:gd name="adj" fmla="val 6505"/>
            </a:avLst>
          </a:prstGeom>
          <a:solidFill>
            <a:srgbClr val="F2EDE0"/>
          </a:solidFill>
          <a:ln w="9525">
            <a:solidFill>
              <a:srgbClr val="E5DC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9039" y="1972056"/>
            <a:ext cx="4623663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Write the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039" y="2319909"/>
            <a:ext cx="4623663" cy="4965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2A2420"/>
                </a:solidFill>
                <a:latin typeface="Inter"/>
              </a:rPr>
              <a:t>A question in your own voice survives a nervous first call; a perfect one in someone else's does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10255"/>
            <a:ext cx="10545775" cy="1227201"/>
          </a:xfrm>
          <a:prstGeom prst="roundRect">
            <a:avLst>
              <a:gd name="adj" fmla="val 6705"/>
            </a:avLst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621151"/>
            <a:ext cx="9923983" cy="329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34E4A"/>
                </a:solidFill>
                <a:latin typeface="Lora"/>
              </a:rPr>
              <a:t>How the facilitator runs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005580"/>
            <a:ext cx="9923983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A2420"/>
                </a:solidFill>
                <a:latin typeface="Inter"/>
              </a:rPr>
              <a:t>One question at a time, listen, reflect back, capture their phrases verbatim. Never write a line they haven't spoken 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monogram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07" y="362102"/>
            <a:ext cx="401007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25488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b="0" i="0">
                <a:solidFill>
                  <a:srgbClr val="8FADAA"/>
                </a:solidFill>
                <a:latin typeface="Inter"/>
              </a:rPr>
              <a:t>sparkconsulting.tech  ·  seb@sparkcuriosityhq.com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9224"/>
            <a:ext cx="84366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 spc="260">
                <a:solidFill>
                  <a:srgbClr val="F5D699"/>
                </a:solidFill>
                <a:latin typeface="Inter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14984"/>
            <a:ext cx="9069366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Interviews begin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6024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18360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183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54936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Up to 8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484501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25-minute slots, 10 minutes between, capped by p0-schedule.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88361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836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24937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Overflow to Tuesday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54502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The ninth yes and beyond books Tuesday morning by default.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58362"/>
            <a:ext cx="475488" cy="475488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836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694938"/>
            <a:ext cx="9795967" cy="347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AF7F0"/>
                </a:solidFill>
                <a:latin typeface="Lora"/>
              </a:rPr>
              <a:t>One record per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24503"/>
            <a:ext cx="9795967" cy="312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Each interview writes to 01-discovery/interviews/.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64939"/>
            <a:ext cx="10545775" cy="1220724"/>
          </a:xfrm>
          <a:prstGeom prst="roundRect">
            <a:avLst>
              <a:gd name="adj" fmla="val 6741"/>
            </a:avLst>
          </a:prstGeom>
          <a:solidFill>
            <a:srgbClr val="1B5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3856" y="4775835"/>
            <a:ext cx="50292" cy="285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1892" y="4775835"/>
            <a:ext cx="9635947" cy="3954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i="1">
                <a:solidFill>
                  <a:srgbClr val="FAF7F0"/>
                </a:solidFill>
                <a:latin typeface="Lora"/>
              </a:rPr>
              <a:t>The interviews matter more than the 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1892" y="5226176"/>
            <a:ext cx="9635947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C4BBA8"/>
                </a:solidFill>
                <a:latin typeface="Inter"/>
              </a:rPr>
              <a:t>p0-schedule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-hero-sparkl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park-wordmark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67512"/>
            <a:ext cx="2006290" cy="570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05025"/>
            <a:ext cx="10545775" cy="646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3200" b="1" i="0">
                <a:solidFill>
                  <a:srgbClr val="FAF7F0"/>
                </a:solidFill>
                <a:latin typeface="Lora"/>
              </a:rPr>
              <a:t>Into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21763"/>
            <a:ext cx="1234440" cy="41148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952745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5274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52745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Run every booked interview against the script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1927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927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19270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Log each session under 01-discovery/interviews/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85794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8579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34E4A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5794"/>
            <a:ext cx="976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AF7F0"/>
                </a:solidFill>
                <a:latin typeface="Inter"/>
              </a:rPr>
              <a:t>Overflow past slot 8 books Tuesday morning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8097"/>
            <a:ext cx="738204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AF7F0"/>
                </a:solidFill>
                <a:latin typeface="Lora"/>
              </a:rPr>
              <a:t>Sebastian Lawson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87009"/>
            <a:ext cx="7382042" cy="659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 AI Agency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seb@sparkcuriosityhq.com</a:t>
            </a:r>
          </a:p>
          <a:p>
            <a:pPr algn="l">
              <a:lnSpc>
                <a:spcPct val="142000"/>
              </a:lnSpc>
            </a:pPr>
            <a:r>
              <a:rPr sz="1050" b="0" i="0">
                <a:solidFill>
                  <a:srgbClr val="BFD3D1"/>
                </a:solidFill>
                <a:latin typeface="Inter"/>
              </a:rPr>
              <a:t>sparkconsulting.tech</a:t>
            </a:r>
          </a:p>
        </p:txBody>
      </p:sp>
      <p:pic>
        <p:nvPicPr>
          <p:cNvPr id="17" name="Picture 16" descr="spark-monogram-cr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503" y="5641848"/>
            <a:ext cx="504493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