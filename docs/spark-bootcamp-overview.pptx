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148840"/>
            <a:ext cx="822960" cy="635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Spark Bootcamp</a:t>
            </a:r>
          </a:p>
          <a:p>
            <a:pPr algn="l"/>
            <a:r>
              <a:rPr sz="2400" b="0">
                <a:solidFill>
                  <a:srgbClr val="C9D4DE"/>
                </a:solidFill>
                <a:latin typeface="Calibri"/>
              </a:rPr>
              <a:t>Five days from a raw idea to a first paying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634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8A23"/>
                </a:solidFill>
                <a:latin typeface="Calibri"/>
              </a:rPr>
              <a:t>A Claude Code plugin. 63 skills, a pre-work phase and one guided week.</a:t>
            </a:r>
          </a:p>
          <a:p>
            <a:pPr algn="l"/>
            <a:r>
              <a:rPr sz="1400" b="0">
                <a:solidFill>
                  <a:srgbClr val="C9D4DE"/>
                </a:solidFill>
                <a:latin typeface="Calibri"/>
              </a:rPr>
              <a:t>Built by Spark AI Agency for Digital Jersey's cohort.</a:t>
            </a:r>
          </a:p>
          <a:p>
            <a:pPr algn="l"/>
            <a:r>
              <a:rPr sz="1200" b="0">
                <a:solidFill>
                  <a:srgbClr val="5A6B7B"/>
                </a:solidFill>
                <a:latin typeface="Calibri"/>
              </a:rPr>
              <a:t>sparkconsulting.tech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One plugin that walks a founder from idea to income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1036289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You install it 2 to 4 weeks early, type one command a day, and it hand-holds you through the whole journey: booking interviews weeks ahead, developing the idea, validating the problem with real conversations, mapping the market, building a brand and a pitch deck, defining and building an MVP, testing it, and closing your first sale.</a:t>
            </a:r>
          </a:p>
          <a:p>
            <a:pPr algn="l"/>
            <a:r>
              <a:rPr sz="1700" b="0">
                <a:solidFill>
                  <a:srgbClr val="14202B"/>
                </a:solidFill>
                <a:latin typeface="Calibri"/>
              </a:rPr>
              <a:t>It works whether you are building software, hardware or a service. Everything you produce is saved to your own project and logged, so you finish the week with a working product and an audit trail a regulator nods at rather than flinches from.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14800"/>
            <a:ext cx="2453563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114800"/>
            <a:ext cx="2453563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2453563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4202B"/>
                </a:solidFill>
                <a:latin typeface="Calibri"/>
              </a:rPr>
              <a:t>63</a:t>
            </a:r>
          </a:p>
          <a:p>
            <a:pPr algn="ctr"/>
            <a:r>
              <a:rPr sz="1300" b="0">
                <a:solidFill>
                  <a:srgbClr val="5A6B7B"/>
                </a:solidFill>
                <a:latin typeface="Calibri"/>
              </a:rPr>
              <a:t>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9443" y="4114800"/>
            <a:ext cx="2453563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79443" y="4114800"/>
            <a:ext cx="2453563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9443" y="4343400"/>
            <a:ext cx="2453563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4202B"/>
                </a:solidFill>
                <a:latin typeface="Calibri"/>
              </a:rPr>
              <a:t>5</a:t>
            </a:r>
          </a:p>
          <a:p>
            <a:pPr algn="ctr"/>
            <a:r>
              <a:rPr sz="1300" b="0">
                <a:solidFill>
                  <a:srgbClr val="5A6B7B"/>
                </a:solidFill>
                <a:latin typeface="Calibri"/>
              </a:rPr>
              <a:t>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5887" y="4114800"/>
            <a:ext cx="2453563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5887" y="4114800"/>
            <a:ext cx="2453563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4343400"/>
            <a:ext cx="2453563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4202B"/>
                </a:solidFill>
                <a:latin typeface="Calibri"/>
              </a:rPr>
              <a:t>3</a:t>
            </a:r>
          </a:p>
          <a:p>
            <a:pPr algn="ctr"/>
            <a:r>
              <a:rPr sz="1300" b="0">
                <a:solidFill>
                  <a:srgbClr val="5A6B7B"/>
                </a:solidFill>
                <a:latin typeface="Calibri"/>
              </a:rPr>
              <a:t>business paths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331" y="4114800"/>
            <a:ext cx="2453563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331" y="4114800"/>
            <a:ext cx="2453563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331" y="4343400"/>
            <a:ext cx="2453563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4202B"/>
                </a:solidFill>
                <a:latin typeface="Calibri"/>
              </a:rPr>
              <a:t>£2,000+</a:t>
            </a:r>
          </a:p>
          <a:p>
            <a:pPr algn="ctr"/>
            <a:r>
              <a:rPr sz="1300" b="0">
                <a:solidFill>
                  <a:srgbClr val="5A6B7B"/>
                </a:solidFill>
                <a:latin typeface="Calibri"/>
              </a:rPr>
              <a:t>first sale, fixed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A pre-work phase, then five days of numeric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828800"/>
            <a:ext cx="10362895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828800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28800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Interviews booked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828800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2 to 4 weeks out: idea captured, 20+ invitations sent, 8 to 12 interviews booked for the Monday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103628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578608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78608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78608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Idea &amp;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578608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The idea developed in a deep morning conversation, booked interviews held and synthesised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328416"/>
            <a:ext cx="10362895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328416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328416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28416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Market &amp; Proposition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28416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A market map, TAM/SAM/SOM, a proposition and USP, a brand, a hand-out pitch deck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078224"/>
            <a:ext cx="103628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4078224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078224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78224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Product &amp;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078224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A working MVP live for a real prospect to act on, tracked in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828032"/>
            <a:ext cx="10362895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4828032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828032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828032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Test &amp; Go-to-Market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828032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5 usability tests, a sales deck, client processes, a funnel, a booked Friday meeting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5577840"/>
            <a:ext cx="103628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5577840"/>
            <a:ext cx="1051560" cy="694944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577840"/>
            <a:ext cx="1051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577840"/>
            <a:ext cx="2651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Tweaks &amp; First Sale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577840"/>
            <a:ext cx="588233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B7B"/>
                </a:solidFill>
                <a:latin typeface="Calibri"/>
              </a:rPr>
              <a:t>Final fixes, pricing, and one committed yes with a date and an amount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Install, then three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1. Install the plugin (once)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121408"/>
            <a:ext cx="10362895" cy="859536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258568"/>
            <a:ext cx="999713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DF2"/>
                </a:solidFill>
                <a:latin typeface="Consolas"/>
              </a:rPr>
              <a:t>/plugin marketplace add SebSparkCuriosity/5daybootcamp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DF2"/>
                </a:solidFill>
                <a:latin typeface="Consolas"/>
              </a:rPr>
              <a:t>/plugin install spark-bootcamp@spark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2. Set up and start the 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538728"/>
            <a:ext cx="10362895" cy="859536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75888"/>
            <a:ext cx="999713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DF2"/>
                </a:solidFill>
                <a:latin typeface="Consolas"/>
              </a:rPr>
              <a:t>/spark-bootcamp:doctor    # 2 to 4 weeks early: machine check, project layout, the pre-work list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DF2"/>
                </a:solidFill>
                <a:latin typeface="Consolas"/>
              </a:rPr>
              <a:t>/spark-bootcamp:start     # your idea, path, bootcamp Monday and numeric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177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Calibri"/>
              </a:rPr>
              <a:t>3. Every step after that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956048"/>
            <a:ext cx="10362895" cy="566928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093208"/>
            <a:ext cx="99971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DF2"/>
                </a:solidFill>
                <a:latin typeface="Consolas"/>
              </a:rPr>
              <a:t>/spark-bootcamp:coach     # where you are, and the one command to run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80644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Start each day in a fresh session. Progress lives on disk, so coach picks up exactly where you left off, and your Claude usage lasts the whole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HOW IT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A thin spine holds a guided journey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920240"/>
            <a:ext cx="10362895" cy="1325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920240"/>
            <a:ext cx="128016" cy="132588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66544"/>
            <a:ext cx="95399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4202B"/>
                </a:solidFill>
                <a:latin typeface="Calibri"/>
              </a:rPr>
              <a:t>Pre-work + the five days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202B"/>
                </a:solidFill>
                <a:latin typeface="Calibri"/>
              </a:rPr>
              <a:t>Pre-work books the interviews  ·  Day 1 Idea &amp; Discovery  ·  Day 2 Market  ·  Day 3 Build  ·  Day 4 Test &amp; GTM  ·  Day 5 First Sale</a:t>
            </a:r>
          </a:p>
          <a:p>
            <a:pPr algn="l"/>
            <a:r>
              <a:rPr sz="1200" b="0">
                <a:solidFill>
                  <a:srgbClr val="5A6B7B"/>
                </a:solidFill>
                <a:latin typeface="Calibri"/>
              </a:rPr>
              <a:t>47 skills that do the phase work, each producing one concrete artefact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410712"/>
            <a:ext cx="10362895" cy="1325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410712"/>
            <a:ext cx="128016" cy="13258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57016"/>
            <a:ext cx="95399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4202B"/>
                </a:solidFill>
                <a:latin typeface="Calibri"/>
              </a:rPr>
              <a:t>The interview engine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202B"/>
                </a:solidFill>
                <a:latin typeface="Calibri"/>
              </a:rPr>
              <a:t>run-interview  ·  synthesise-interviews  ·  interview-method</a:t>
            </a:r>
          </a:p>
          <a:p>
            <a:pPr algn="l"/>
            <a:r>
              <a:rPr sz="1200" b="0">
                <a:solidFill>
                  <a:srgbClr val="5A6B7B"/>
                </a:solidFill>
                <a:latin typeface="Calibri"/>
              </a:rPr>
              <a:t>Built once, borrowed twice: discovery on Monday, product-testing on Thursday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901184"/>
            <a:ext cx="10362895" cy="1325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01184"/>
            <a:ext cx="128016" cy="132588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047488"/>
            <a:ext cx="95399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4202B"/>
                </a:solidFill>
                <a:latin typeface="Calibri"/>
              </a:rPr>
              <a:t>The spine (always on)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202B"/>
                </a:solidFill>
                <a:latin typeface="Calibri"/>
              </a:rPr>
              <a:t>state machine  ·  coach  ·  checkpoint  ·  logging  ·  brand  ·  guardrails  ·  data-protection</a:t>
            </a:r>
          </a:p>
          <a:p>
            <a:pPr algn="l"/>
            <a:r>
              <a:rPr sz="1200" b="0">
                <a:solidFill>
                  <a:srgbClr val="5A6B7B"/>
                </a:solidFill>
                <a:latin typeface="Calibri"/>
              </a:rPr>
              <a:t>15 skills that track where you are, log every step, and keep the week auditable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The spine: 13 skills, always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0" y="1828800"/>
          <a:ext cx="10362895" cy="4407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doctor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One-time setup and pre-work check: machine, accounts, entity and bank, domain, budget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start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Registers your name, path, one-sentence idea and headline numeric target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coach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Tells you where you are and the one command to run next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checkpoint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Opens each day with a target, closes it with the actual number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journey-state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The state-machine helper every skill reads and writes (hidden)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logbook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The one logging format for the changelog and decision log (hidden)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audit-pack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Compiles the week's logs into a regulator or investor pack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brand-register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The canonical brand store every document reads from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house-style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Shared deck and page templates plus the voice checklist (hidden)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business-profile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The one software / hardware / services variance matrix (hidden)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guardrails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No fabricated numbers, human sign-off before send or spend (hidden)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regulator-check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Reviews any artefact for unsupported claims before it ships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data-protection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Draft privacy notice, consent wording and data-processing clause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The interview engine: built once, used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Day 1 validates the problem. Day 4 tests the build. Same engine, one mode switch.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1298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202B"/>
                          </a:solidFill>
                          <a:latin typeface="Consolas"/>
                        </a:rPr>
                        <a:t>interview-method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202B"/>
                          </a:solidFill>
                          <a:latin typeface="Calibri"/>
                        </a:rPr>
                        <a:t>The Mom Test, jobs-to-be-done and buying-signal knowledge base (hidden)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202B"/>
                          </a:solidFill>
                          <a:latin typeface="Consolas"/>
                        </a:rPr>
                        <a:t>run-interview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202B"/>
                          </a:solidFill>
                          <a:latin typeface="Calibri"/>
                        </a:rPr>
                        <a:t>Runs and captures one interview: discovery mode on Day 1, product-test mode on Day 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202B"/>
                          </a:solidFill>
                          <a:latin typeface="Consolas"/>
                        </a:rPr>
                        <a:t>synthesise-interviews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202B"/>
                          </a:solidFill>
                          <a:latin typeface="Calibri"/>
                        </a:rPr>
                        <a:t>Pulls the patterns out of a folder of interview records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PRE-WORK  ·  2 TO 4 WEEKS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Book the interviews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8 to 12 interviews in the Monday diary before the week begins.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1609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p0-interview-triage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A conversation that decides who to interview: one segment, the role, 8 to 12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p0-invite-list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20+ named, reachable people, each with a channel and warmth rating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p0-invitations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Email, WhatsApp or LinkedIn invitations to a real slot on the bootcamp Monday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p0-schedule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Tracks replies, chases silence, closes pre-work at 8+ booked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DAY 1  · 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Idea &amp;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the idea developed, booked interviews held and synthesised, one validated problem.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1609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d1-refine-idea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A deep partner conversation that develops the idea and names the riskiest assumption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d1-interview-plan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Turn the booked schedule into a run plan: one focus per conversation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d1-write-script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Co-write a Mom Test-proof interview script in the founder's own voice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02B"/>
                          </a:solidFill>
                          <a:latin typeface="Consolas"/>
                        </a:rPr>
                        <a:t>d1-validated-problem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02B"/>
                          </a:solidFill>
                          <a:latin typeface="Calibri"/>
                        </a:rPr>
                        <a:t>The persevere, pivot, or keep-interviewing call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DAY 2  ·  TUESDAY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Market &amp;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a market map, sizing, a proposition and USP, a chosen brand with its book, and a pitch deck.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3474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d2-market-map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Name the players, the value chain and the substitutes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d2-market-sizing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Size TAM, SAM and SOM two ways and triangulate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d2-competitor-scan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Lay the rivals side by side and name the gap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d2-positioning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Fix where you win and state the one USP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d2-proposition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Turn jobs, pains and gains into one proposition, with a number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d2-messaging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A one-liner, three key messages and a 30-second pitch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d2-brand-foundations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Values, personality, naming and tone of voice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d2-visual-identity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Choose the logo from 3 concepts, the fonts and an AA-safe palette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d2-brand-book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The full logo kit and an 8-section brand book, HTML and PDF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2B"/>
                          </a:solidFill>
                          <a:latin typeface="Consolas"/>
                        </a:rPr>
                        <a:t>d2-pitch-deck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02B"/>
                          </a:solidFill>
                          <a:latin typeface="Calibri"/>
                        </a:rPr>
                        <a:t>Assemble the day into a branded, evidence-traced pitch deck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DAY 3  · 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Product &amp;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a working MVP live for a real prospect to act on, tracked in GitHub.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d3-product-context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Confirm your path and boil the MVP to one sentence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d3-moscow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Prioritise ruthlessly: at most 7 Musts, explicit Won'ts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d3-story-map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Sequence the Musts into one end-to-end slice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d3-prd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The build brief, with a numeric success metric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d3-blueprint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Model the structure once: data model or service blueprint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d3-tech-stack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One opinionated stack, with a monthly cost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d3-github-setup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A repo, a README and one issue per Must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d3-mvp-build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Build the thin slice live, one issue at a time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d3-domain-email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A real domain and a working business email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d3-landing-site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Your public shopfront with working lead capture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202B"/>
                          </a:solidFill>
                          <a:latin typeface="Consolas"/>
                        </a:rPr>
                        <a:t>d3-next-steps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02B"/>
                          </a:solidFill>
                          <a:latin typeface="Calibri"/>
                        </a:rPr>
                        <a:t>An honest, prioritised launch checklist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DAY 4  ·  THURSDAY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Test &amp; Go-to-Market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5 usability tests, a sales deck, client processes, a funnel, a GTM plan, and a booked meeting.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3163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d4-usability-plan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Reorient the interview engine and book 5 tests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d4-prioritise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Score the changes and rank testers by buying intent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d4-icp-messaging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Nail one ideal customer profile and the words that move them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d4-sales-deck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The deck that closes one named prospect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d4-intake-process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Proposal to delivery, with a signable template per stage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d4-onboarding-pack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Make a new client's first week feel handled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d4-marketing-funnel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Awareness to purchase, with named channels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d4-gtm-plan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Name the first 10 customers, ranked by warmth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d4-book-sale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Get the warmest prospect into a confirmed Friday slot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DAY 5  · 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Tweaks &amp; First Sale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8A23"/>
                </a:solidFill>
                <a:latin typeface="Calibri"/>
              </a:rPr>
              <a:t>Outcome: one committed yes (cash, deposit, paid pilot or signed LOI) with a date and an amount.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993392"/>
          <a:ext cx="10362895" cy="3163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75739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8900" marR="88900" marT="38100" marB="38100" anchor="ctr">
                    <a:solidFill>
                      <a:srgbClr val="1420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d5-triage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Sort Day 4 feedback: Fix Now (max 3), Park, Roadmap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d5-ship-fixes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Ship the three fixes and prove the demo runs end to end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d5-pricing-model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Commit to one pricing model, with the reason written down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d5-price-number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Three packages, one recommended, floor £2,000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d5-proposal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A one-page offer: problem, target, price, next step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d5-paperwork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Draft engagement letter, terms, invoice and a way to get paid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d5-rehearse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Role-play the sale until the ask feels natural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d5-close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Turn the yes into a signature, recorded with a tier and amount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4202B"/>
                          </a:solidFill>
                          <a:latin typeface="Consolas"/>
                        </a:rPr>
                        <a:t>d5-review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4202B"/>
                          </a:solidFill>
                          <a:latin typeface="Calibri"/>
                        </a:rPr>
                        <a:t>Package the week and score it against your target</a:t>
                      </a:r>
                    </a:p>
                  </a:txBody>
                  <a:tcPr marL="88900" marR="88900" marT="38100" marB="381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ONE PLUGIN, THREE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The build flexes to what you are 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965960"/>
            <a:ext cx="327141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965960"/>
            <a:ext cx="3271418" cy="64008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327141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88920"/>
            <a:ext cx="28142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4202B"/>
                </a:solidFill>
                <a:latin typeface="Calibri"/>
              </a:rPr>
              <a:t>A deployed working slice on a public URL.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Default stack: Next.js, Supabase, Vercel.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8738" y="1965960"/>
            <a:ext cx="327141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8738" y="1965960"/>
            <a:ext cx="3271418" cy="64008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8738" y="1965960"/>
            <a:ext cx="327141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7338" y="2788920"/>
            <a:ext cx="28142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4202B"/>
                </a:solidFill>
                <a:latin typeface="Calibri"/>
              </a:rPr>
              <a:t>A prototype (CAD render or mock) plus a pre-order or waitlist page.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Takes real payment intent.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4476" y="1965960"/>
            <a:ext cx="327141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4476" y="1965960"/>
            <a:ext cx="3271418" cy="64008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4476" y="1965960"/>
            <a:ext cx="327141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076" y="2788920"/>
            <a:ext cx="28142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4202B"/>
                </a:solidFill>
                <a:latin typeface="Calibri"/>
              </a:rPr>
              <a:t>A productised package with one sample deliverable.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Plus a bookable intake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5029200"/>
            <a:ext cx="10362895" cy="86868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9722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8A23"/>
                </a:solidFill>
                <a:latin typeface="Calibri"/>
              </a:rPr>
              <a:t>The shared spine across all three: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live page a real prospect can act on. Skills that build or ship branch from one variance matrix, so the journey stays the same shape whatever you are making.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Efficient to run, auditable to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920240"/>
            <a:ext cx="4998567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920240"/>
            <a:ext cx="4998567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44499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4202B"/>
                </a:solidFill>
                <a:latin typeface="Calibri"/>
              </a:rPr>
              <a:t>Built for a usage limit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Fresh session each day: state lives on disk, coach rebuilds it.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Every skill logs once and reads compact state, not whole files.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Scripts do the mechanical work in the background, not in tokens.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Lean skills: bodies and triggers cut by a quarter to a 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7327" y="1920240"/>
            <a:ext cx="4998567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07327" y="1920240"/>
            <a:ext cx="4998567" cy="508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1647" y="2194560"/>
            <a:ext cx="44499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4202B"/>
                </a:solidFill>
                <a:latin typeface="Calibri"/>
              </a:rPr>
              <a:t>Auditable by default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Every artefact is logged to a changelog with its numeric result.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Decisions and their reasons are recorded as you go.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audit-pack compiles it all into one regulator or investor pack.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4202B"/>
                </a:solidFill>
                <a:latin typeface="Calibri"/>
              </a:rPr>
              <a:t>•  Human sign-off before any outreach is sent or money is spent.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486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8A23"/>
                </a:solidFill>
                <a:latin typeface="Calibri"/>
              </a:rPr>
              <a:t>BY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4124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What the founder walks away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481328"/>
            <a:ext cx="1097280" cy="381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504428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validated problem, backed by 8 to 12 real interviews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market map, market sizing and a hand-out pitch deck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brand: name, palette, logo and tone of voice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working MVP, live for a real prospect to act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103120"/>
            <a:ext cx="504428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landing site, a sales deck and a go-to-market plan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Client onboarding and intake processes, ready to use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One paying customer, recorded with a date and an amount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4202B"/>
                </a:solidFill>
                <a:latin typeface="Calibri"/>
              </a:rPr>
              <a:t>✓   A full audit pack of everything built,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B"/>
                </a:solidFill>
                <a:latin typeface="Calibri"/>
              </a:rPr>
              <a:t>Spark Bootcamp  ·  a Claude Code plugin by Spark AI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58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08200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Idea to system, in five days.</a:t>
            </a:r>
          </a:p>
          <a:p>
            <a:pPr algn="l"/>
            <a:r>
              <a:rPr sz="1800" b="0">
                <a:solidFill>
                  <a:srgbClr val="C9D4DE"/>
                </a:solidFill>
                <a:latin typeface="Calibri"/>
              </a:rPr>
              <a:t>Install it, run doctor, then start. Coach takes it from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6634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8A23"/>
                </a:solidFill>
                <a:latin typeface="Calibri"/>
              </a:rPr>
              <a:t>Spark AI Agency</a:t>
            </a:r>
          </a:p>
          <a:p>
            <a:pPr algn="l"/>
            <a:r>
              <a:rPr sz="1400" b="0">
                <a:solidFill>
                  <a:srgbClr val="C9D4DE"/>
                </a:solidFill>
                <a:latin typeface="Calibri"/>
              </a:rPr>
              <a:t>seb@sparkcuriosityhq.com   ·   sparkconsulting.tech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